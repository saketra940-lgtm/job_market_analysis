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et rai" userId="8526e97aa0bf07cf" providerId="LiveId" clId="{A5A553E1-0D4B-4DAD-A4B2-7082F328FABA}"/>
    <pc:docChg chg="custSel modSld">
      <pc:chgData name="saket rai" userId="8526e97aa0bf07cf" providerId="LiveId" clId="{A5A553E1-0D4B-4DAD-A4B2-7082F328FABA}" dt="2026-09-15T16:36:55.357" v="0" actId="478"/>
      <pc:docMkLst>
        <pc:docMk/>
      </pc:docMkLst>
      <pc:sldChg chg="delSp mod">
        <pc:chgData name="saket rai" userId="8526e97aa0bf07cf" providerId="LiveId" clId="{A5A553E1-0D4B-4DAD-A4B2-7082F328FABA}" dt="2026-09-15T16:36:55.357" v="0" actId="478"/>
        <pc:sldMkLst>
          <pc:docMk/>
          <pc:sldMk cId="0" sldId="266"/>
        </pc:sldMkLst>
        <pc:spChg chg="del">
          <ac:chgData name="saket rai" userId="8526e97aa0bf07cf" providerId="LiveId" clId="{A5A553E1-0D4B-4DAD-A4B2-7082F328FABA}" dt="2026-09-15T16:36:55.357" v="0" actId="478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1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11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9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1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81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9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4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79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1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50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3778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3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26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48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71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4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491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6051" y="15544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JOB MARKET ANALYSIS</a:t>
            </a:r>
          </a:p>
          <a:p>
            <a:pPr>
              <a:defRPr sz="3000" b="1">
                <a:solidFill>
                  <a:srgbClr val="B4DCFF"/>
                </a:solidFill>
              </a:defRPr>
            </a:pPr>
            <a:r>
              <a:rPr dirty="0"/>
              <a:t>AND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DCE6F0"/>
                </a:solidFill>
              </a:defRPr>
            </a:pPr>
            <a:r>
              <a:rPr dirty="0"/>
              <a:t>A data-driven study of job demand, compensation, emerging categories, forecasting, and personalized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DCFF"/>
                </a:solidFill>
              </a:defRPr>
            </a:pPr>
            <a:r>
              <a:t>Capstone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4464" y="1269492"/>
            <a:ext cx="398378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59944"/>
            <a:ext cx="10698480" cy="310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sz="2400" dirty="0"/>
              <a:t>Objective: understand job-market demand, compensation patterns, emerging categories, and future trends.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sz="2400" dirty="0"/>
              <a:t>Build a personalized recommendation engine for job seekers using TF-IDF and cosine similarity.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sz="2400" dirty="0"/>
              <a:t>Provide an interactive </a:t>
            </a:r>
            <a:r>
              <a:rPr sz="2400" dirty="0" err="1"/>
              <a:t>Streamlit</a:t>
            </a:r>
            <a:r>
              <a:rPr sz="2400" dirty="0"/>
              <a:t> interface connected to a Flask API.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sz="2400" dirty="0"/>
              <a:t>Use the provided Upwork job-posting dataset as the analytical 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03382" y="1012091"/>
            <a:ext cx="504817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Dataset &amp;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382" y="2210783"/>
            <a:ext cx="10698480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sz="2400" dirty="0"/>
              <a:t>Dataset shape: 244,828 rows and 8 columns.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sz="2400" dirty="0"/>
              <a:t>Date coverage: November 2023 to March 2024.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sz="2400" dirty="0"/>
              <a:t>Hourly midpoint = (</a:t>
            </a:r>
            <a:r>
              <a:rPr sz="2400" dirty="0" err="1"/>
              <a:t>hourly_low</a:t>
            </a:r>
            <a:r>
              <a:rPr sz="2400" dirty="0"/>
              <a:t> + </a:t>
            </a:r>
            <a:r>
              <a:rPr sz="2400" dirty="0" err="1"/>
              <a:t>hourly_high</a:t>
            </a:r>
            <a:r>
              <a:rPr sz="2400" dirty="0"/>
              <a:t>) / 2.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sz="2400" dirty="0"/>
              <a:t>Fixed-price budgets were not mixed with hourly rates in salary analysis.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sz="2400" dirty="0"/>
              <a:t>Missing values were handled according to each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7240" y="1072617"/>
            <a:ext cx="48093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382" y="2404012"/>
            <a:ext cx="9762941" cy="1710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sz="2400" dirty="0"/>
              <a:t>Load data → clean and validate → EDA → statistical analysis → forecasting → recommendation API → dashboard and UI.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sz="2400" dirty="0"/>
              <a:t>Tools: Python, Pandas, NumPy, Matplotlib, Seaborn, Scikit-learn, Flask, and </a:t>
            </a:r>
            <a:r>
              <a:rPr sz="2400" dirty="0" err="1"/>
              <a:t>Streamlit</a:t>
            </a:r>
            <a:r>
              <a:rPr sz="2400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365760"/>
            <a:ext cx="791434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 Keyword &amp; Hourly Salary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E6E87"/>
                </a:solidFill>
              </a:defRPr>
            </a:pPr>
            <a:r>
              <a:t>Statistical relationship between job-title keywords and offered hourly rates</a:t>
            </a:r>
          </a:p>
        </p:txBody>
      </p:sp>
      <p:pic>
        <p:nvPicPr>
          <p:cNvPr id="6" name="Picture 5" descr="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3299"/>
            <a:ext cx="566928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96765"/>
            <a:ext cx="201168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55664" y="1489195"/>
            <a:ext cx="73152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88205"/>
            <a:ext cx="1828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3233F"/>
                </a:solidFill>
              </a:defRPr>
            </a:pPr>
            <a:r>
              <a:rPr dirty="0"/>
              <a:t>$29.71</a:t>
            </a:r>
          </a:p>
          <a:p>
            <a:pPr algn="ctr">
              <a:defRPr sz="900">
                <a:solidFill>
                  <a:srgbClr val="5E6E87"/>
                </a:solidFill>
              </a:defRPr>
            </a:pPr>
            <a:r>
              <a:rPr dirty="0"/>
              <a:t>Mean hourly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588205"/>
            <a:ext cx="201168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0" y="1573752"/>
            <a:ext cx="73152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76759" y="1588205"/>
            <a:ext cx="1828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3233F"/>
                </a:solidFill>
              </a:defRPr>
            </a:pPr>
            <a:r>
              <a:rPr dirty="0"/>
              <a:t>$22.50</a:t>
            </a:r>
          </a:p>
          <a:p>
            <a:pPr algn="ctr">
              <a:defRPr sz="900">
                <a:solidFill>
                  <a:srgbClr val="5E6E87"/>
                </a:solidFill>
              </a:defRPr>
            </a:pPr>
            <a:r>
              <a:rPr dirty="0"/>
              <a:t>Median hourly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817877"/>
            <a:ext cx="201168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500892" y="2947516"/>
            <a:ext cx="73152" cy="889522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2807208"/>
            <a:ext cx="1828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3233F"/>
                </a:solidFill>
              </a:defRPr>
            </a:pPr>
            <a:r>
              <a:t>$75</a:t>
            </a:r>
          </a:p>
          <a:p>
            <a:pPr algn="ctr">
              <a:defRPr sz="900">
                <a:solidFill>
                  <a:srgbClr val="5E6E87"/>
                </a:solidFill>
              </a:defRPr>
            </a:pPr>
            <a:r>
              <a:t>95th percentile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6441" y="2790197"/>
            <a:ext cx="201168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78240" y="2989795"/>
            <a:ext cx="73152" cy="8049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87967" y="2807208"/>
            <a:ext cx="1828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3233F"/>
                </a:solidFill>
              </a:defRPr>
            </a:pPr>
            <a:r>
              <a:rPr dirty="0"/>
              <a:t>$135</a:t>
            </a:r>
          </a:p>
          <a:p>
            <a:pPr algn="ctr">
              <a:defRPr sz="900">
                <a:solidFill>
                  <a:srgbClr val="5E6E87"/>
                </a:solidFill>
              </a:defRPr>
            </a:pPr>
            <a:r>
              <a:rPr dirty="0"/>
              <a:t>99th percentile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06240"/>
            <a:ext cx="566928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300">
                <a:solidFill>
                  <a:srgbClr val="1E293B"/>
                </a:solidFill>
              </a:defRPr>
            </a:pPr>
            <a:r>
              <a:rPr sz="1900" dirty="0"/>
              <a:t>Strongest positive associations were weak: tax (r≈0.091) and consultant (r≈0.083).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300">
                <a:solidFill>
                  <a:srgbClr val="1E293B"/>
                </a:solidFill>
              </a:defRPr>
            </a:pPr>
            <a:r>
              <a:rPr sz="1900" dirty="0"/>
              <a:t>Python, SQL, JavaScript and React showed little linear association with hourly rate.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300">
                <a:solidFill>
                  <a:srgbClr val="1E293B"/>
                </a:solidFill>
              </a:defRPr>
            </a:pPr>
            <a:r>
              <a:rPr sz="1900" dirty="0"/>
              <a:t>Correlation does not imply causation.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365760"/>
            <a:ext cx="615745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 Emerging Job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E6E87"/>
                </a:solidFill>
              </a:defRPr>
            </a:pPr>
            <a:r>
              <a:t>Posting frequency and growth between February and March 2024</a:t>
            </a:r>
          </a:p>
        </p:txBody>
      </p:sp>
      <p:pic>
        <p:nvPicPr>
          <p:cNvPr id="6" name="Picture 5" descr="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669280" cy="4297680"/>
          </a:xfrm>
          <a:prstGeom prst="rect">
            <a:avLst/>
          </a:prstGeom>
        </p:spPr>
      </p:pic>
      <p:pic>
        <p:nvPicPr>
          <p:cNvPr id="7" name="Picture 6" descr="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21208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846320"/>
            <a:ext cx="493776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11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</a:defRPr>
            </a:pPr>
            <a:r>
              <a:rPr lang="en-US" dirty="0"/>
              <a:t>Design &amp; Creative: 14,198 → 20,643 (+45.4%).</a:t>
            </a:r>
          </a:p>
          <a:p>
            <a:pPr marL="171450" indent="-171450">
              <a:spcAft>
                <a:spcPts val="11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</a:defRPr>
            </a:pPr>
            <a:r>
              <a:rPr lang="en-US" dirty="0"/>
              <a:t>Marketing &amp; SEO: 9,982 → 14,655 (+46.8%).</a:t>
            </a:r>
          </a:p>
          <a:p>
            <a:pPr marL="171450" indent="-171450">
              <a:spcAft>
                <a:spcPts val="11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</a:defRPr>
            </a:pPr>
            <a:r>
              <a:rPr lang="en-US" dirty="0"/>
              <a:t>Software Development: 10,640 → 15,507 (+45.7%).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2648" y="678210"/>
            <a:ext cx="699742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Predicting High-Demand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E6E87"/>
                </a:solidFill>
              </a:defRPr>
            </a:pPr>
            <a:r>
              <a:t>Time-based demand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06110"/>
            <a:ext cx="10698480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dirty="0"/>
              <a:t>Monthly category posting counts were used as the modelling dataset.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dirty="0"/>
              <a:t>Training used earlier months and testing used the latest month to avoid random time leakage.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dirty="0"/>
              <a:t>Random Forest regression was used for category-level demand prediction.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dirty="0"/>
              <a:t>Reported metrics: MAE ≈ 2,980; RMSE ≈ 4,717; R² ≈ 0.449.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dirty="0"/>
              <a:t>Forecast output was converted into a ranked chart of predicted high-demand categories.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572000"/>
            <a:ext cx="141732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79" y="4572000"/>
            <a:ext cx="73152" cy="10515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7807" y="4681728"/>
            <a:ext cx="123444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3233F"/>
                </a:solidFill>
              </a:defRPr>
            </a:pPr>
            <a:r>
              <a:t>2,980</a:t>
            </a:r>
          </a:p>
          <a:p>
            <a:pPr algn="ctr">
              <a:defRPr sz="900">
                <a:solidFill>
                  <a:srgbClr val="5E6E87"/>
                </a:solidFill>
              </a:defRPr>
            </a:pPr>
            <a:r>
              <a:t>MAE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4572000"/>
            <a:ext cx="141732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0" y="4572000"/>
            <a:ext cx="73152" cy="105156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53728" y="4681728"/>
            <a:ext cx="123444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3233F"/>
                </a:solidFill>
              </a:defRPr>
            </a:pPr>
            <a:r>
              <a:t>4,717</a:t>
            </a:r>
          </a:p>
          <a:p>
            <a:pPr algn="ctr">
              <a:defRPr sz="900">
                <a:solidFill>
                  <a:srgbClr val="5E6E87"/>
                </a:solidFill>
              </a:defRPr>
            </a:pPr>
            <a:r>
              <a:t>RMSE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0" y="4572000"/>
            <a:ext cx="100584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89920" y="4572000"/>
            <a:ext cx="731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99648" y="4681728"/>
            <a:ext cx="8229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3233F"/>
                </a:solidFill>
              </a:defRPr>
            </a:pPr>
            <a:r>
              <a:t>0.449</a:t>
            </a:r>
          </a:p>
          <a:p>
            <a:pPr algn="ctr">
              <a:defRPr sz="900">
                <a:solidFill>
                  <a:srgbClr val="5E6E87"/>
                </a:solidFill>
              </a:defRPr>
            </a:pPr>
            <a:r>
              <a:t>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91005" y="855398"/>
            <a:ext cx="637866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Country-Level Hourly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12461"/>
            <a:ext cx="10698480" cy="310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Hourly jobs were isolated and midpoint rates were calculated.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Average hourly rate was grouped by country after removing missing country/rate values.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Deliverable: ranked country comparison chart or interactive </a:t>
            </a:r>
            <a:r>
              <a:rPr sz="2400" dirty="0" err="1"/>
              <a:t>Plotly</a:t>
            </a:r>
            <a:r>
              <a:rPr sz="2400" dirty="0"/>
              <a:t> map.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Country sample size should be considered when interpreting averages.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2347" y="1017278"/>
            <a:ext cx="973696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Personalized Job 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736" y="2278135"/>
            <a:ext cx="10698480" cy="324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Input: desired role/skills, country, job type, and number of recommendations.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Model: TF-IDF vectorization of job titles plus cosine similarity.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Filtering is applied before ranking.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Output includes title, country, compensation, similarity score, and original job link.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Prototype uses Flask API and </a:t>
            </a:r>
            <a:r>
              <a:rPr sz="2400" dirty="0" err="1"/>
              <a:t>Streamlit</a:t>
            </a:r>
            <a:r>
              <a:rPr sz="2400" dirty="0"/>
              <a:t>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3018" y="1012091"/>
            <a:ext cx="95558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Monthly Job Market Dynamics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95551"/>
            <a:ext cx="10698480" cy="273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Dashboard cards: total postings, hourly-posting share, average hourly rate, and top category.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Monthly filters compare categories and countries.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The dataset is heavily concentrated in February and March 2024.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Future refresh: replace the CSV with a new monthly extract and rerun aggregation.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28657" y="819834"/>
            <a:ext cx="59811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Remote Work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64" y="2063241"/>
            <a:ext cx="10698480" cy="273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The dataset has no dedicated remote/on-site field.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A defensible remote-work percentage or forecast cannot be calculated directly from the current schema.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Recommended extension: add a remote flag from job descriptions or a richer job-posting source.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Then track remote share by month and country.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0335" y="1113011"/>
            <a:ext cx="587051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 Future Job Market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607" y="2232174"/>
            <a:ext cx="10698480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Monthly total job postings are modelled using </a:t>
            </a:r>
            <a:r>
              <a:rPr sz="2400" dirty="0" err="1"/>
              <a:t>month_index</a:t>
            </a:r>
            <a:r>
              <a:rPr sz="2400" dirty="0"/>
              <a:t>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Linear Regression provides a transparent baseline.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Historical predictions are compared with actual monthly totals.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Next-month demand is generated from the fitted model.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sz="2400" dirty="0"/>
              <a:t>Because the historical window is short and uneven, forecasts are directional rather than guaranteed.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9664" y="745225"/>
            <a:ext cx="716093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Key Findings &amp;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760" y="1771021"/>
            <a:ext cx="10698480" cy="3980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400" dirty="0"/>
              <a:t>Demand is concentrated in Design &amp; Creative, Marketing &amp; SEO, and Software Development.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400" dirty="0"/>
              <a:t>Keyword presence alone is not a strong predictor of hourly compensation.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400" dirty="0"/>
              <a:t>Personalized matching is more useful when skills, location, job type, and similarity are combined.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400" dirty="0"/>
              <a:t>Forecasts should be refreshed as new monthly data arrives.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400" dirty="0"/>
              <a:t>Country comparisons should include posting counts and medians to reduce misleading outliers.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9161" y="840261"/>
            <a:ext cx="778290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33F"/>
                </a:solidFill>
              </a:defRPr>
            </a:pP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Limitations &amp;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760" y="1944380"/>
            <a:ext cx="10698480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400" dirty="0"/>
              <a:t>The dataset is a historical extract, not a live real-time feed.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400" dirty="0"/>
              <a:t>Only job titles are available for text matching; descriptions and skills would improve recommendations.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400" dirty="0"/>
              <a:t>Early months have very few postings, while February–March dominate the sample.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400" dirty="0"/>
              <a:t>Remote-work forecasting needs a remote/on-site attribute.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400" dirty="0"/>
              <a:t>Future work: scheduled ingestion, richer NLP, confidence intervals, model monitoring, and Docker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875520" cy="231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2100">
                <a:solidFill>
                  <a:srgbClr val="E6F0FA"/>
                </a:solidFill>
              </a:defRPr>
            </a:pPr>
            <a:r>
              <a:rPr dirty="0"/>
              <a:t>The project combines descriptive analytics, forecasting, and an interactive recommendation system.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2100">
                <a:solidFill>
                  <a:srgbClr val="E6F0FA"/>
                </a:solidFill>
              </a:defRPr>
            </a:pPr>
            <a:r>
              <a:rPr dirty="0"/>
              <a:t>The strongest practical outcome is a reusable workflow that turns job postings into actionable recommendations.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2100">
                <a:solidFill>
                  <a:srgbClr val="E6F0FA"/>
                </a:solidFill>
              </a:defRPr>
            </a:pPr>
            <a:r>
              <a:rPr dirty="0"/>
              <a:t>With monthly refreshes and richer job attributes, the system can support more reliable market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E87"/>
                </a:solidFill>
              </a:defRPr>
            </a:pPr>
            <a:r>
              <a:t>Job Market Analysis &amp; Recommendation System  |  15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957</Words>
  <Application>Microsoft Office PowerPoint</Application>
  <PresentationFormat>Widescreen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saket rai</dc:creator>
  <cp:keywords/>
  <dc:description>generated using python-pptx</dc:description>
  <cp:lastModifiedBy>saket rai</cp:lastModifiedBy>
  <cp:revision>3</cp:revision>
  <dcterms:created xsi:type="dcterms:W3CDTF">2013-01-27T09:14:16Z</dcterms:created>
  <dcterms:modified xsi:type="dcterms:W3CDTF">2026-09-15T16:37:04Z</dcterms:modified>
  <cp:category/>
</cp:coreProperties>
</file>